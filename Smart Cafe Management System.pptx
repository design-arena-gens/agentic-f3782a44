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f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8016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Smart Cafe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B.Tech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Presenter: Aryan Sharma (Roll No. BT21CS045)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Department of Computer Science &amp; Engineering</a:t>
            </a:r>
          </a:p>
        </p:txBody>
      </p:sp>
      <p:pic>
        <p:nvPicPr>
          <p:cNvPr id="6" name="Picture 5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486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Motivation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Digitize daily café operations to reduce manual overhead and billing errors.</a:t>
            </a:r>
          </a:p>
          <a:p>
            <a:pPr>
              <a:defRPr sz="2400"/>
            </a:pPr>
            <a:r>
              <a:t>Empower small Indian cafés with technology tailored to their budgets and workflows.</a:t>
            </a:r>
          </a:p>
          <a:p>
            <a:pPr>
              <a:defRPr sz="2400"/>
            </a:pPr>
            <a:r>
              <a:t>Ride the wave of digital payments, UPI adoption, and on-demand ordering trends.</a:t>
            </a:r>
          </a:p>
        </p:txBody>
      </p:sp>
      <p:pic>
        <p:nvPicPr>
          <p:cNvPr id="4" name="Picture 3" descr="industry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Literature Review / Existing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Evaluated POS offerings such as Toast, Square, and legacy desktop billing suites.</a:t>
            </a:r>
          </a:p>
          <a:p>
            <a:pPr>
              <a:defRPr sz="2400"/>
            </a:pPr>
            <a:r>
              <a:t>Identified pain points: high licensing fees, hardware lock-ins, complicated training.</a:t>
            </a:r>
          </a:p>
          <a:p>
            <a:pPr>
              <a:defRPr sz="2400"/>
            </a:pPr>
            <a:r>
              <a:t>Opportunity for a light-weight, browser-based system with local language support.</a:t>
            </a:r>
          </a:p>
        </p:txBody>
      </p:sp>
      <p:pic>
        <p:nvPicPr>
          <p:cNvPr id="4" name="Picture 3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Manual billing produces pricing errors and inconsistent receipts.</a:t>
            </a:r>
          </a:p>
          <a:p>
            <a:pPr>
              <a:defRPr sz="2400"/>
            </a:pPr>
            <a:r>
              <a:t>Kitchen receives delayed or unclear order tickets, causing slow service.</a:t>
            </a:r>
          </a:p>
          <a:p>
            <a:pPr>
              <a:defRPr sz="2400"/>
            </a:pPr>
            <a:r>
              <a:t>No central view of inventory consumption or wastage trends.</a:t>
            </a:r>
          </a:p>
          <a:p>
            <a:pPr>
              <a:defRPr sz="2400"/>
            </a:pPr>
            <a:r>
              <a:t>Customer preferences and loyalty data rarely captured or analyzed.</a:t>
            </a:r>
          </a:p>
        </p:txBody>
      </p:sp>
      <p:pic>
        <p:nvPicPr>
          <p:cNvPr id="4" name="Picture 3" descr="busy_c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Automate order capture, billing, and payment reconciliation in real time.</a:t>
            </a:r>
          </a:p>
          <a:p>
            <a:pPr>
              <a:defRPr sz="2400"/>
            </a:pPr>
            <a:r>
              <a:t>Provide live inventory tracking with automated low-stock alerts.</a:t>
            </a:r>
          </a:p>
          <a:p>
            <a:pPr>
              <a:defRPr sz="2400"/>
            </a:pPr>
            <a:r>
              <a:t>Enable cashier–kitchen coordination via synchronized order screens.</a:t>
            </a:r>
          </a:p>
          <a:p>
            <a:pPr>
              <a:defRPr sz="2400"/>
            </a:pPr>
            <a:r>
              <a:t>Build customer engagement with digital receipts and loyalty tracking.</a:t>
            </a:r>
          </a:p>
        </p:txBody>
      </p:sp>
      <p:pic>
        <p:nvPicPr>
          <p:cNvPr id="4" name="Picture 3" descr="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Develop a responsive web POS optimized for tablets and kiosks.</a:t>
            </a:r>
          </a:p>
          <a:p>
            <a:pPr>
              <a:defRPr sz="2400"/>
            </a:pPr>
            <a:r>
              <a:t>Implement admin dashboard for menu, pricing, and staff management.</a:t>
            </a:r>
          </a:p>
          <a:p>
            <a:pPr>
              <a:defRPr sz="2400"/>
            </a:pPr>
            <a:r>
              <a:t>Integrate analytics for daily sales, category performance, and peak hours.</a:t>
            </a:r>
          </a:p>
          <a:p>
            <a:pPr>
              <a:defRPr sz="2400"/>
            </a:pPr>
            <a:r>
              <a:t>Offer configurable GST rates, combo deals, and discount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Three-tier architecture: React front-end, Node.js API layer, PostgreSQL datastore.</a:t>
            </a:r>
          </a:p>
          <a:p>
            <a:pPr>
              <a:defRPr sz="2400"/>
            </a:pPr>
            <a:r>
              <a:t>RESTful endpoints secured via JWT, rate-limits, and role-based access control.</a:t>
            </a:r>
          </a:p>
          <a:p>
            <a:pPr>
              <a:defRPr sz="2400"/>
            </a:pPr>
            <a:r>
              <a:t>Real-time order updates delivered using WebSockets for kitchen display.</a:t>
            </a:r>
          </a:p>
          <a:p>
            <a:pPr>
              <a:defRPr sz="2400"/>
            </a:pPr>
            <a:r>
              <a:t>Deployment via containerized services with auto-scaling on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Use Case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Cashier: creates orders, accepts payments, prints/whatsapps receipts.</a:t>
            </a:r>
          </a:p>
          <a:p>
            <a:pPr>
              <a:defRPr sz="2400"/>
            </a:pPr>
            <a:r>
              <a:t>Chef: views live order queue, updates preparation status.</a:t>
            </a:r>
          </a:p>
          <a:p>
            <a:pPr>
              <a:defRPr sz="2400"/>
            </a:pPr>
            <a:r>
              <a:t>Manager: monitors sales KPIs, adjusts inventory, schedules staff.</a:t>
            </a:r>
          </a:p>
          <a:p>
            <a:pPr>
              <a:defRPr sz="2400"/>
            </a:pPr>
            <a:r>
              <a:t>Customer: receives digital receipt and loyalty points snapshot.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Point-of-Sale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Touch-friendly menu segmented by beverages, snacks, combos, custom add-ons.</a:t>
            </a:r>
          </a:p>
          <a:p>
            <a:pPr>
              <a:defRPr sz="2400"/>
            </a:pPr>
            <a:r>
              <a:t>Quick cart modifications, split bills, and multi-payment mode support (UPI/cash/cards).</a:t>
            </a:r>
          </a:p>
          <a:p>
            <a:pPr>
              <a:defRPr sz="2400"/>
            </a:pPr>
            <a:r>
              <a:t>Automatic GST breakdown and ledger-friendly receipt exports.</a:t>
            </a:r>
          </a:p>
          <a:p>
            <a:pPr>
              <a:defRPr sz="2400"/>
            </a:pPr>
            <a:r>
              <a:t>Offline caching using service workers for uninterrupted billing.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Inventory &amp; Procurement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Maps recipes to raw material consumption for precise stock deductions.</a:t>
            </a:r>
          </a:p>
          <a:p>
            <a:pPr>
              <a:defRPr sz="2400"/>
            </a:pPr>
            <a:r>
              <a:t>Batch-wise inventory with expiry tracking to reduce wastage.</a:t>
            </a:r>
          </a:p>
          <a:p>
            <a:pPr>
              <a:defRPr sz="2400"/>
            </a:pPr>
            <a:r>
              <a:t>Supplier management for purchase orders and delivery timelines.</a:t>
            </a:r>
          </a:p>
          <a:p>
            <a:pPr>
              <a:defRPr sz="2400"/>
            </a:pPr>
            <a:r>
              <a:t>Predictive reorder suggestions based on historical sales velocity.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Customer Engagement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Digital wallet and loyalty point accrual linked to phone numbers.</a:t>
            </a:r>
          </a:p>
          <a:p>
            <a:pPr>
              <a:defRPr sz="2400"/>
            </a:pPr>
            <a:r>
              <a:t>Targeted offers via SMS/WhatsApp templates with click-through tracking.</a:t>
            </a:r>
          </a:p>
          <a:p>
            <a:pPr>
              <a:defRPr sz="2400"/>
            </a:pPr>
            <a:r>
              <a:t>Feedback capture post-order with sentiment summarization.</a:t>
            </a:r>
          </a:p>
          <a:p>
            <a:pPr>
              <a:defRPr sz="2400"/>
            </a:pPr>
            <a:r>
              <a:t>Heatmaps of repeat visits to drive personalized campaigns.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Front-end: Next.js + TypeScript with Tailwind CSS for rapid UI composition.</a:t>
            </a:r>
          </a:p>
          <a:p>
            <a:pPr>
              <a:defRPr sz="2400"/>
            </a:pPr>
            <a:r>
              <a:t>Back-end: Node.js (NestJS) microservices orchestrated via Express gateway.</a:t>
            </a:r>
          </a:p>
          <a:p>
            <a:pPr>
              <a:defRPr sz="2400"/>
            </a:pPr>
            <a:r>
              <a:t>Database: Supabase/PostgreSQL with row-level security &amp; backups.</a:t>
            </a:r>
          </a:p>
          <a:p>
            <a:pPr>
              <a:defRPr sz="2400"/>
            </a:pPr>
            <a:r>
              <a:t>Integrations: Razorpay/UPI, Firebase Cloud Messaging, webhooks for accounting.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Database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Tables for menu_items, orders, order_items, payments, stocks, suppliers, customers.</a:t>
            </a:r>
          </a:p>
          <a:p>
            <a:pPr>
              <a:defRPr sz="2400"/>
            </a:pPr>
            <a:r>
              <a:t>Use of database triggers to maintain inventory ledger and audit trails.</a:t>
            </a:r>
          </a:p>
          <a:p>
            <a:pPr>
              <a:defRPr sz="2400"/>
            </a:pPr>
            <a:r>
              <a:t>JSONB columns to store dynamic modifiers and localized descriptions.</a:t>
            </a:r>
          </a:p>
          <a:p>
            <a:pPr>
              <a:defRPr sz="2400"/>
            </a:pPr>
            <a:r>
              <a:t>Materialized views power dashboard KPIs and peak hour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Key User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Dashboard shows today's revenue, average ticket size, best-selling items.</a:t>
            </a:r>
          </a:p>
          <a:p>
            <a:pPr>
              <a:defRPr sz="2400"/>
            </a:pPr>
            <a:r>
              <a:t>Kitchen Display Screen (KDS) grouping orders by status and time elapsed.</a:t>
            </a:r>
          </a:p>
          <a:p>
            <a:pPr>
              <a:defRPr sz="2400"/>
            </a:pPr>
            <a:r>
              <a:t>Inventory board with traffic-light indicators for stock health.</a:t>
            </a:r>
          </a:p>
          <a:p>
            <a:pPr>
              <a:defRPr sz="2400"/>
            </a:pPr>
            <a:r>
              <a:t>Customer profile view aggregating feedback, spend, and favorites.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Order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Order initiated at POS, items selected, modifiers applied.</a:t>
            </a:r>
          </a:p>
          <a:p>
            <a:pPr>
              <a:defRPr sz="2400"/>
            </a:pPr>
            <a:r>
              <a:t>Payment processed with automatic receipt generation and loyalty update.</a:t>
            </a:r>
          </a:p>
          <a:p>
            <a:pPr>
              <a:defRPr sz="2400"/>
            </a:pPr>
            <a:r>
              <a:t>Order pushed to KDS; chef marks stages (accepted, preparing, ready).</a:t>
            </a:r>
          </a:p>
          <a:p>
            <a:pPr>
              <a:defRPr sz="2400"/>
            </a:pPr>
            <a:r>
              <a:t>Completion triggers inventory deduction and analytics logging.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Phase 1 (Weeks 1-3): Requirements finalization, UI wireframes, database schema.</a:t>
            </a:r>
          </a:p>
          <a:p>
            <a:pPr>
              <a:defRPr sz="2400"/>
            </a:pPr>
            <a:r>
              <a:t>Phase 2 (Weeks 4-7): Core POS build, order APIs, authentication modules.</a:t>
            </a:r>
          </a:p>
          <a:p>
            <a:pPr>
              <a:defRPr sz="2400"/>
            </a:pPr>
            <a:r>
              <a:t>Phase 3 (Weeks 8-10): Inventory automation, reporting dashboards, KDS.</a:t>
            </a:r>
          </a:p>
          <a:p>
            <a:pPr>
              <a:defRPr sz="2400"/>
            </a:pPr>
            <a:r>
              <a:t>Phase 4 (Weeks 11-12): Testing cycles, deployment, stakeholder training.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Core Algorithms &amp;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Bill computation engine handles tax slabs, discounts, rounding, and tender types.</a:t>
            </a:r>
          </a:p>
          <a:p>
            <a:pPr>
              <a:defRPr sz="2400"/>
            </a:pPr>
            <a:r>
              <a:t>Inventory scheduler reconciles real-time sales with batch-level stock.</a:t>
            </a:r>
          </a:p>
          <a:p>
            <a:pPr>
              <a:defRPr sz="2400"/>
            </a:pPr>
            <a:r>
              <a:t>Recommendation engine suggests combos via association rule mining.</a:t>
            </a:r>
          </a:p>
          <a:p>
            <a:pPr>
              <a:defRPr sz="2400"/>
            </a:pPr>
            <a:r>
              <a:t>Alerting subsystem generates notifications for KPIs exceeding thresholds.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Role-based access control separating cashier, chef, manager permissions.</a:t>
            </a:r>
          </a:p>
          <a:p>
            <a:pPr>
              <a:defRPr sz="2400"/>
            </a:pPr>
            <a:r>
              <a:t>End-to-end TLS, hashed credentials with bcrypt, and optional OTP login.</a:t>
            </a:r>
          </a:p>
          <a:p>
            <a:pPr>
              <a:defRPr sz="2400"/>
            </a:pPr>
            <a:r>
              <a:t>Audit logs capture critical actions: voided bills, refunds, price changes.</a:t>
            </a:r>
          </a:p>
          <a:p>
            <a:pPr>
              <a:defRPr sz="2400"/>
            </a:pPr>
            <a:r>
              <a:t>Compliant with GST invoicing rules and data residency guidelines in India.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Unit tests for billing calculations, inventory adjustments, and API endpoints.</a:t>
            </a:r>
          </a:p>
          <a:p>
            <a:pPr>
              <a:defRPr sz="2400"/>
            </a:pPr>
            <a:r>
              <a:t>Integration tests simulating POS-KDS interactions under peak load.</a:t>
            </a:r>
          </a:p>
          <a:p>
            <a:pPr>
              <a:defRPr sz="2400"/>
            </a:pPr>
            <a:r>
              <a:t>User acceptance testing with café staff to validate usability and workflows.</a:t>
            </a:r>
          </a:p>
          <a:p>
            <a:pPr>
              <a:defRPr sz="2400"/>
            </a:pPr>
            <a:r>
              <a:t>Performance benchmarking ensuring sub-2 second response for 95th percentile.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Results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Pilot café reduced billing time per order by 35% after adoption.</a:t>
            </a:r>
          </a:p>
          <a:p>
            <a:pPr>
              <a:defRPr sz="2400"/>
            </a:pPr>
            <a:r>
              <a:t>Inventory variance dropped from 11% to 3% through automated deductions.</a:t>
            </a:r>
          </a:p>
          <a:p>
            <a:pPr>
              <a:defRPr sz="2400"/>
            </a:pPr>
            <a:r>
              <a:t>Daily dashboard enabled faster menu adjustments and improved margins.</a:t>
            </a:r>
          </a:p>
          <a:p>
            <a:pPr>
              <a:defRPr sz="2400"/>
            </a:pPr>
            <a:r>
              <a:t>Positive feedback on bilingual UI and WhatsApp receipt sharing.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Cost &amp; Feasibility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Development cost estimated at ₹1.8L with in-house team and open-source stack.</a:t>
            </a:r>
          </a:p>
          <a:p>
            <a:pPr>
              <a:defRPr sz="2400"/>
            </a:pPr>
            <a:r>
              <a:t>Operational costs under ₹4k/month covering hosting, SMS, and maintenance.</a:t>
            </a:r>
          </a:p>
          <a:p>
            <a:pPr>
              <a:defRPr sz="2400"/>
            </a:pPr>
            <a:r>
              <a:t>Break-even within 9 months for cafés averaging 150 orders/day.</a:t>
            </a:r>
          </a:p>
          <a:p>
            <a:pPr>
              <a:defRPr sz="2400"/>
            </a:pPr>
            <a:r>
              <a:t>Scalable pricing tiers for single-outlet and franchise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Challenges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Unstable connectivity: implemented offline-first caching and sync queues.</a:t>
            </a:r>
          </a:p>
          <a:p>
            <a:pPr>
              <a:defRPr sz="2400"/>
            </a:pPr>
            <a:r>
              <a:t>Staff adoption: provided vernacular tutorials and role-based onboarding.</a:t>
            </a:r>
          </a:p>
          <a:p>
            <a:pPr>
              <a:defRPr sz="2400"/>
            </a:pPr>
            <a:r>
              <a:t>Data accuracy: enforced validation rules and reconciliation dashboards.</a:t>
            </a:r>
          </a:p>
          <a:p>
            <a:pPr>
              <a:defRPr sz="2400"/>
            </a:pPr>
            <a:r>
              <a:t>Feature creep: maintained backlog with MoSCoW prioritization.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AI-driven demand forecasting and automated procurement suggestions.</a:t>
            </a:r>
          </a:p>
          <a:p>
            <a:pPr>
              <a:defRPr sz="2400"/>
            </a:pPr>
            <a:r>
              <a:t>IoT integration for smart coffee machines and energy monitoring.</a:t>
            </a:r>
          </a:p>
          <a:p>
            <a:pPr>
              <a:defRPr sz="2400"/>
            </a:pPr>
            <a:r>
              <a:t>Dynamic pricing experiments based on footfall and weather data.</a:t>
            </a:r>
          </a:p>
          <a:p>
            <a:pPr>
              <a:defRPr sz="2400"/>
            </a:pPr>
            <a:r>
              <a:t>Marketplace tie-ins with delivery aggregators for omnichannel ordering.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Smart Cafe Management System modernizes café operations end-to-end.</a:t>
            </a:r>
          </a:p>
          <a:p>
            <a:pPr>
              <a:defRPr sz="2400"/>
            </a:pPr>
            <a:r>
              <a:t>Provides affordable digital transformation tailored to Indian SMBs.</a:t>
            </a:r>
          </a:p>
          <a:p>
            <a:pPr>
              <a:defRPr sz="2400"/>
            </a:pPr>
            <a:r>
              <a:t>Delivers actionable insights for profitability and customer loyalty growth.</a:t>
            </a:r>
          </a:p>
          <a:p>
            <a:pPr>
              <a:defRPr sz="2400"/>
            </a:pPr>
            <a:r>
              <a:t>Ready roadmap for scaling into a multi-outlet SaaS platform.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References &amp;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Industry reports from NRAI India Food Services and FICCI hospitality outlook.</a:t>
            </a:r>
          </a:p>
          <a:p>
            <a:pPr>
              <a:defRPr sz="2400"/>
            </a:pPr>
            <a:r>
              <a:t>Product benchmarks from Toast POS, Petpooja, and Loyverse documentation.</a:t>
            </a:r>
          </a:p>
          <a:p>
            <a:pPr>
              <a:defRPr sz="2400"/>
            </a:pPr>
            <a:r>
              <a:t>Mentor guidance from Prof. Kavita Desai and Café Ananda pilot partner.</a:t>
            </a:r>
          </a:p>
          <a:p>
            <a:pPr>
              <a:defRPr sz="2400"/>
            </a:pPr>
            <a:r>
              <a:t>Open-source communities for Next.js, Supabase, and analytics tooling.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